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57ECB-25ED-435E-9531-18501A43DEAE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C07B7-9C45-46FC-9F06-7AA8C14AC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040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57ECB-25ED-435E-9531-18501A43DEAE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C07B7-9C45-46FC-9F06-7AA8C14AC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002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57ECB-25ED-435E-9531-18501A43DEAE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C07B7-9C45-46FC-9F06-7AA8C14AC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460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57ECB-25ED-435E-9531-18501A43DEAE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C07B7-9C45-46FC-9F06-7AA8C14AC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424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57ECB-25ED-435E-9531-18501A43DEAE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C07B7-9C45-46FC-9F06-7AA8C14AC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343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57ECB-25ED-435E-9531-18501A43DEAE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C07B7-9C45-46FC-9F06-7AA8C14AC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133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57ECB-25ED-435E-9531-18501A43DEAE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C07B7-9C45-46FC-9F06-7AA8C14AC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355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57ECB-25ED-435E-9531-18501A43DEAE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C07B7-9C45-46FC-9F06-7AA8C14AC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612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57ECB-25ED-435E-9531-18501A43DEAE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C07B7-9C45-46FC-9F06-7AA8C14AC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9624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57ECB-25ED-435E-9531-18501A43DEAE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C07B7-9C45-46FC-9F06-7AA8C14AC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138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57ECB-25ED-435E-9531-18501A43DEAE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C07B7-9C45-46FC-9F06-7AA8C14AC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3087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57ECB-25ED-435E-9531-18501A43DEAE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C07B7-9C45-46FC-9F06-7AA8C14ACC6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903056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57ECB-25ED-435E-9531-18501A43DEAE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C07B7-9C45-46FC-9F06-7AA8C14AC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3897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57ECB-25ED-435E-9531-18501A43DEAE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C07B7-9C45-46FC-9F06-7AA8C14AC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6454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57ECB-25ED-435E-9531-18501A43DEAE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C07B7-9C45-46FC-9F06-7AA8C14AC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988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57ECB-25ED-435E-9531-18501A43DEAE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C07B7-9C45-46FC-9F06-7AA8C14AC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7931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57ECB-25ED-435E-9531-18501A43DEAE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C07B7-9C45-46FC-9F06-7AA8C14AC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571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F9E57ECB-25ED-435E-9531-18501A43DEAE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6C07B7-9C45-46FC-9F06-7AA8C14AC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4059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3574C-9578-6C56-0597-730C39CDD1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Pager Rotation Duties in DevOps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0F99C3-E6F6-45DB-CB70-9AAA796708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1800" dirty="0"/>
              <a:t>Ryan Barber</a:t>
            </a:r>
          </a:p>
          <a:p>
            <a:r>
              <a:rPr lang="en-US" sz="1800" dirty="0"/>
              <a:t>Assignment 7.2</a:t>
            </a:r>
          </a:p>
          <a:p>
            <a:r>
              <a:rPr lang="en-US" sz="1800" dirty="0"/>
              <a:t>CSD-380</a:t>
            </a:r>
          </a:p>
          <a:p>
            <a:r>
              <a:rPr lang="en-US" sz="1800" dirty="0"/>
              <a:t>9/20/26</a:t>
            </a:r>
          </a:p>
        </p:txBody>
      </p:sp>
    </p:spTree>
    <p:extLst>
      <p:ext uri="{BB962C8B-B14F-4D97-AF65-F5344CB8AC3E}">
        <p14:creationId xmlns:p14="http://schemas.microsoft.com/office/powerpoint/2010/main" val="34127414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05811-BF3B-6C60-254D-DBCE073EE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Pager Rotation?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A9C6E-2A73-1F18-9CA6-1E5ACB66A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1400"/>
              </a:spcAft>
              <a:defRPr sz="1800"/>
            </a:pPr>
            <a:r>
              <a:rPr lang="en-US" dirty="0"/>
              <a:t>A pager or on-call rotation assigns team members specific periods when they are responsible for responding to production incidents.</a:t>
            </a:r>
          </a:p>
          <a:p>
            <a:pPr>
              <a:spcAft>
                <a:spcPts val="1400"/>
              </a:spcAft>
              <a:defRPr sz="1800"/>
            </a:pPr>
            <a:r>
              <a:rPr lang="en-US" dirty="0"/>
              <a:t> The goal is to ensure that critical systems have qualified support available when failures or outages occur.</a:t>
            </a:r>
          </a:p>
          <a:p>
            <a:pPr>
              <a:spcAft>
                <a:spcPts val="1400"/>
              </a:spcAft>
              <a:defRPr sz="1800"/>
            </a:pPr>
            <a:r>
              <a:rPr lang="en-US" dirty="0"/>
              <a:t>In DevOps and SRE environments, the on-call engineer may diagnose, mitigate, fix, or escalate an incident.</a:t>
            </a:r>
          </a:p>
          <a:p>
            <a:pPr>
              <a:spcAft>
                <a:spcPts val="1400"/>
              </a:spcAft>
              <a:defRPr sz="1800"/>
            </a:pPr>
            <a:r>
              <a:rPr lang="en-US" dirty="0"/>
              <a:t>A well-designed rotation supports system reliability without placing an unreasonable burden on one person.</a:t>
            </a:r>
          </a:p>
        </p:txBody>
      </p:sp>
    </p:spTree>
    <p:extLst>
      <p:ext uri="{BB962C8B-B14F-4D97-AF65-F5344CB8AC3E}">
        <p14:creationId xmlns:p14="http://schemas.microsoft.com/office/powerpoint/2010/main" val="3546784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7A286-05A7-F341-0E30-E881BA8DF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On-Call Matter in DevOps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D8D3D-69AC-896C-0DE7-135E1E2A95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1800"/>
            </a:pPr>
            <a:r>
              <a:rPr lang="en-US" dirty="0"/>
              <a:t>Modern applications and services may need to remain available around the clock.</a:t>
            </a:r>
          </a:p>
          <a:p>
            <a:pPr>
              <a:spcAft>
                <a:spcPts val="1400"/>
              </a:spcAft>
              <a:defRPr sz="1800"/>
            </a:pPr>
            <a:r>
              <a:rPr lang="en-US" dirty="0"/>
              <a:t>On-call coverage gives teams a defined person to contact when monitoring detects a serious problem.</a:t>
            </a:r>
          </a:p>
          <a:p>
            <a:pPr>
              <a:spcAft>
                <a:spcPts val="1400"/>
              </a:spcAft>
              <a:defRPr sz="1800"/>
            </a:pPr>
            <a:r>
              <a:rPr lang="en-US" dirty="0"/>
              <a:t>Fast response can reduce downtime and limit the impact of an incident on customers.</a:t>
            </a:r>
          </a:p>
          <a:p>
            <a:pPr>
              <a:spcAft>
                <a:spcPts val="1400"/>
              </a:spcAft>
              <a:defRPr sz="1800"/>
            </a:pPr>
            <a:r>
              <a:rPr lang="en-US" dirty="0"/>
              <a:t>Giving developers operational responsibility can also encourage teams to build more reliable and supportable software.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5519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6A4EE-B934-C685-42B1-2A9B24229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 a Fair and Sustainable Rotation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354D4D-629E-04C0-47FC-FBB136827E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Aft>
                <a:spcPts val="1400"/>
              </a:spcAft>
              <a:defRPr sz="1800"/>
            </a:pPr>
            <a:r>
              <a:rPr lang="en-US" dirty="0"/>
              <a:t>Distribute on-call work fairly without having to rely on one person or a small operations group.</a:t>
            </a:r>
          </a:p>
          <a:p>
            <a:pPr>
              <a:spcAft>
                <a:spcPts val="1400"/>
              </a:spcAft>
              <a:defRPr sz="1800"/>
            </a:pPr>
            <a:r>
              <a:rPr lang="en-US" dirty="0"/>
              <a:t>Use a primary responder and a secondary or backup responder so incidents can be escalated when necessary.</a:t>
            </a:r>
          </a:p>
          <a:p>
            <a:pPr>
              <a:spcAft>
                <a:spcPts val="1400"/>
              </a:spcAft>
              <a:defRPr sz="1800"/>
            </a:pPr>
            <a:r>
              <a:rPr lang="en-US" dirty="0"/>
              <a:t>Rotation length should reflect team size and incident volume; heavily paged teams may need shorter shifts.</a:t>
            </a:r>
          </a:p>
          <a:p>
            <a:pPr>
              <a:spcAft>
                <a:spcPts val="1400"/>
              </a:spcAft>
              <a:defRPr sz="1800"/>
            </a:pPr>
            <a:r>
              <a:rPr lang="en-US" dirty="0"/>
              <a:t>Distributed teams can use a follow-the-sun approach to reduce overnight disruptions.</a:t>
            </a:r>
          </a:p>
          <a:p>
            <a:pPr>
              <a:spcAft>
                <a:spcPts val="1400"/>
              </a:spcAft>
              <a:defRPr sz="1800"/>
            </a:pPr>
            <a:r>
              <a:rPr lang="en-US" dirty="0"/>
              <a:t>Schedules should allow swaps and overrides for vacations, illness, and emergencies.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5065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89269-E33A-FE56-4E9C-8773BB2CE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Make Alerts Actionable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7706D-4C6E-301A-5CDD-1952FDEA72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Aft>
                <a:spcPts val="1400"/>
              </a:spcAft>
              <a:defRPr sz="1800"/>
            </a:pPr>
            <a:r>
              <a:rPr lang="en-US" dirty="0"/>
              <a:t>Pages should be reserved for problems that require immediate human action.</a:t>
            </a:r>
          </a:p>
          <a:p>
            <a:pPr>
              <a:spcAft>
                <a:spcPts val="1400"/>
              </a:spcAft>
              <a:defRPr sz="1800"/>
            </a:pPr>
            <a:r>
              <a:rPr lang="en-US" dirty="0"/>
              <a:t>Low-value or repetitive alerts can create alert fatigue and make important incidents easier to miss.</a:t>
            </a:r>
          </a:p>
          <a:p>
            <a:pPr>
              <a:spcAft>
                <a:spcPts val="1400"/>
              </a:spcAft>
              <a:defRPr sz="1800"/>
            </a:pPr>
            <a:r>
              <a:rPr lang="en-US" dirty="0"/>
              <a:t>Teams should review alert volume and remove noisy alerts or automate routine responses.</a:t>
            </a:r>
          </a:p>
          <a:p>
            <a:pPr>
              <a:spcAft>
                <a:spcPts val="1400"/>
              </a:spcAft>
              <a:defRPr sz="1800"/>
            </a:pPr>
            <a:r>
              <a:rPr lang="en-US" dirty="0"/>
              <a:t>Severity levels should help responders distinguish urgent incidents from issues that can wait until business hours.</a:t>
            </a:r>
          </a:p>
          <a:p>
            <a:pPr>
              <a:spcAft>
                <a:spcPts val="1400"/>
              </a:spcAft>
              <a:defRPr sz="1800"/>
            </a:pPr>
            <a:r>
              <a:rPr lang="en-US" dirty="0"/>
              <a:t>Monitoring should focus on meaningful service impact instead of paging for every technical event.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15641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C2F61-9B4D-7D04-4723-4485B0781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Prepare the On-Call Engineer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A3825-6E0B-B434-F75B-E9F6DCAC3C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Aft>
                <a:spcPts val="1400"/>
              </a:spcAft>
              <a:defRPr sz="1800"/>
            </a:pPr>
            <a:r>
              <a:rPr lang="en-US" dirty="0"/>
              <a:t>Responders need access to monitoring, logs, dashboards, communication tools, and production systems before their shift begins.</a:t>
            </a:r>
          </a:p>
          <a:p>
            <a:pPr>
              <a:spcAft>
                <a:spcPts val="1400"/>
              </a:spcAft>
              <a:defRPr sz="1800"/>
            </a:pPr>
            <a:r>
              <a:rPr lang="en-US" dirty="0"/>
              <a:t>Runbooks and playbooks should document common problems and the steps used to diagnose or mitigate them.</a:t>
            </a:r>
          </a:p>
          <a:p>
            <a:pPr>
              <a:spcAft>
                <a:spcPts val="1400"/>
              </a:spcAft>
              <a:defRPr sz="1800"/>
            </a:pPr>
            <a:r>
              <a:rPr lang="en-US" dirty="0"/>
              <a:t>Clear escalation paths tell responders when and how to bring in additional expertise.</a:t>
            </a:r>
          </a:p>
          <a:p>
            <a:pPr>
              <a:spcAft>
                <a:spcPts val="1400"/>
              </a:spcAft>
              <a:defRPr sz="1800"/>
            </a:pPr>
            <a:r>
              <a:rPr lang="en-US" dirty="0"/>
              <a:t>Training and practice incidents help less-experienced engineers become comfortable responding under pressure.</a:t>
            </a:r>
          </a:p>
          <a:p>
            <a:pPr>
              <a:spcAft>
                <a:spcPts val="1400"/>
              </a:spcAft>
              <a:defRPr sz="1800"/>
            </a:pPr>
            <a:r>
              <a:rPr lang="en-US" dirty="0"/>
              <a:t>Automation can handle repetitive tasks and leave engineers more time for investigation and decision-making.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0424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80C3A-86C6-B475-4D38-44FBBD153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Handoffs and incident Response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4EB8F-DCC8-593B-F7F8-5A8C5B6F3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Aft>
                <a:spcPts val="1400"/>
              </a:spcAft>
              <a:defRPr sz="1800"/>
            </a:pPr>
            <a:r>
              <a:rPr lang="en-US" dirty="0"/>
              <a:t>A formal handoff helps the next responder understand active incidents, recent changes, and unresolved risks.</a:t>
            </a:r>
          </a:p>
          <a:p>
            <a:pPr>
              <a:spcAft>
                <a:spcPts val="1400"/>
              </a:spcAft>
              <a:defRPr sz="1800"/>
            </a:pPr>
            <a:r>
              <a:rPr lang="en-US" dirty="0"/>
              <a:t>During an incident, the responder should acknowledge the page, assess the impact, mitigate the problem, and escalate when needed.</a:t>
            </a:r>
          </a:p>
          <a:p>
            <a:pPr>
              <a:spcAft>
                <a:spcPts val="1400"/>
              </a:spcAft>
              <a:defRPr sz="1800"/>
            </a:pPr>
            <a:r>
              <a:rPr lang="en-US" dirty="0"/>
              <a:t>Complex incidents benefit from clearly assigned roles and an established incident-management process.</a:t>
            </a:r>
          </a:p>
          <a:p>
            <a:pPr>
              <a:spcAft>
                <a:spcPts val="1400"/>
              </a:spcAft>
              <a:defRPr sz="1800"/>
            </a:pPr>
            <a:r>
              <a:rPr lang="en-US" dirty="0"/>
              <a:t>After restoration, teams should document what happened and identify follow-up work.</a:t>
            </a:r>
          </a:p>
          <a:p>
            <a:pPr>
              <a:spcAft>
                <a:spcPts val="1400"/>
              </a:spcAft>
              <a:defRPr sz="1800"/>
            </a:pPr>
            <a:r>
              <a:rPr lang="en-US" dirty="0"/>
              <a:t>Blameless postmortems focus on improving systems and processes rather than assigning personal blame.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0757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7B2BC-9B6E-BAFA-FB93-E9CC6A86E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Prevent Burnout and Improve the Rotation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E8AB6-69C5-943A-B8B9-69381FEA40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Aft>
                <a:spcPts val="1400"/>
              </a:spcAft>
              <a:defRPr sz="1800"/>
            </a:pPr>
            <a:r>
              <a:rPr lang="en-US" dirty="0"/>
              <a:t>On-call duty can disrupt sleep, personal time, and normal development work, so the workload must be monitored.</a:t>
            </a:r>
          </a:p>
          <a:p>
            <a:pPr>
              <a:spcAft>
                <a:spcPts val="1400"/>
              </a:spcAft>
              <a:defRPr sz="1800"/>
            </a:pPr>
            <a:r>
              <a:rPr lang="en-US" dirty="0"/>
              <a:t>Teams should track paging frequency and adjust staffing or alerts when the burden becomes excessive.</a:t>
            </a:r>
          </a:p>
          <a:p>
            <a:pPr>
              <a:spcAft>
                <a:spcPts val="1400"/>
              </a:spcAft>
              <a:defRPr sz="1800"/>
            </a:pPr>
            <a:r>
              <a:rPr lang="en-US" dirty="0"/>
              <a:t>Engineers need time after incidents for root-cause analysis, documentation, automation, and permanent fixes.</a:t>
            </a:r>
          </a:p>
          <a:p>
            <a:pPr>
              <a:spcAft>
                <a:spcPts val="1400"/>
              </a:spcAft>
              <a:defRPr sz="1800"/>
            </a:pPr>
            <a:r>
              <a:rPr lang="en-US" dirty="0"/>
              <a:t>Managers should regularly ask whether the schedule is still fair and sustainable.</a:t>
            </a:r>
          </a:p>
          <a:p>
            <a:pPr>
              <a:spcAft>
                <a:spcPts val="1400"/>
              </a:spcAft>
              <a:defRPr sz="1800"/>
            </a:pPr>
            <a:r>
              <a:rPr lang="en-US" dirty="0"/>
              <a:t>A healthy rotation balances customer reliability with the well-being and long-term effectiveness of the engineering team.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08609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8807B-E519-1B3D-78AF-C430144E2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76849C-55EF-955E-3A17-DBC5414808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Aft>
                <a:spcPts val="1400"/>
              </a:spcAft>
              <a:defRPr sz="1800"/>
            </a:pPr>
            <a:r>
              <a:rPr lang="en-US" dirty="0"/>
              <a:t>Effective pager rotations combine reliable coverage with a sustainable workload.</a:t>
            </a:r>
          </a:p>
          <a:p>
            <a:pPr>
              <a:spcAft>
                <a:spcPts val="1400"/>
              </a:spcAft>
              <a:defRPr sz="1800"/>
            </a:pPr>
            <a:r>
              <a:rPr lang="en-US" dirty="0"/>
              <a:t>Fair schedules, backup responders, and clear escalation procedures reduce operational risk.</a:t>
            </a:r>
          </a:p>
          <a:p>
            <a:pPr>
              <a:spcAft>
                <a:spcPts val="1400"/>
              </a:spcAft>
              <a:defRPr sz="1800"/>
            </a:pPr>
            <a:r>
              <a:rPr lang="en-US" dirty="0"/>
              <a:t>Actionable alerts and good documentation help engineers respond faster and avoid alert fatigue.</a:t>
            </a:r>
          </a:p>
          <a:p>
            <a:pPr>
              <a:spcAft>
                <a:spcPts val="1400"/>
              </a:spcAft>
              <a:defRPr sz="1800"/>
            </a:pPr>
            <a:r>
              <a:rPr lang="en-US" dirty="0"/>
              <a:t>Training, automation, handoffs, and postmortems turn incidents into opportunities for improvement.</a:t>
            </a:r>
          </a:p>
          <a:p>
            <a:pPr>
              <a:spcAft>
                <a:spcPts val="1400"/>
              </a:spcAft>
              <a:defRPr sz="1800"/>
            </a:pPr>
            <a:r>
              <a:rPr lang="en-US" dirty="0"/>
              <a:t>The best on-call process is reviewed and improved continuously as the team and system change.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8826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6E8B2-8194-9E6C-3666-B5EB351D3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91577-9A02-2C3A-6D4F-D03A16EC7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1500"/>
            </a:pPr>
            <a:r>
              <a:rPr lang="en-US" dirty="0"/>
              <a:t>Google. (n.d.). Being on-call. Site Reliability Engineering. https://sre.google/sre-book/being-on-call/</a:t>
            </a:r>
          </a:p>
          <a:p>
            <a:pPr>
              <a:spcAft>
                <a:spcPts val="1400"/>
              </a:spcAft>
              <a:defRPr sz="1500"/>
            </a:pPr>
            <a:r>
              <a:rPr lang="en-US" dirty="0"/>
              <a:t>Google. (n.d.). Incident management guide. Site Reliability Engineering. https://sre.google/resources/practices-and-processes/incident-management-guide/</a:t>
            </a:r>
          </a:p>
          <a:p>
            <a:pPr>
              <a:spcAft>
                <a:spcPts val="1400"/>
              </a:spcAft>
              <a:defRPr sz="1500"/>
            </a:pPr>
            <a:r>
              <a:rPr lang="en-US" dirty="0"/>
              <a:t>Atlassian. (n.d.). Building an effective on-call schedule. https://www.atlassian.com/incident-management/on-call/on-call-schedules</a:t>
            </a:r>
          </a:p>
          <a:p>
            <a:pPr>
              <a:spcAft>
                <a:spcPts val="1400"/>
              </a:spcAft>
              <a:defRPr sz="1500"/>
            </a:pPr>
            <a:r>
              <a:rPr lang="en-US" dirty="0"/>
              <a:t>PagerDuty. (n.d.). On-call rotations and schedules. https://www.pagerduty.com/resources/incident-management-response/learn/call-rotations-schedules/</a:t>
            </a:r>
          </a:p>
          <a:p>
            <a:pPr>
              <a:spcAft>
                <a:spcPts val="1400"/>
              </a:spcAft>
              <a:defRPr sz="1500"/>
            </a:pPr>
            <a:r>
              <a:rPr lang="en-US" dirty="0"/>
              <a:t>Course textbook, Chapter 16: Pager Rotation Duties.</a:t>
            </a:r>
          </a:p>
        </p:txBody>
      </p:sp>
    </p:spTree>
    <p:extLst>
      <p:ext uri="{BB962C8B-B14F-4D97-AF65-F5344CB8AC3E}">
        <p14:creationId xmlns:p14="http://schemas.microsoft.com/office/powerpoint/2010/main" val="10350871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</TotalTime>
  <Words>766</Words>
  <Application>Microsoft Office PowerPoint</Application>
  <PresentationFormat>Widescreen</PresentationFormat>
  <Paragraphs>57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Century Gothic</vt:lpstr>
      <vt:lpstr>Wingdings 3</vt:lpstr>
      <vt:lpstr>Ion</vt:lpstr>
      <vt:lpstr>Pager Rotation Duties in DevOps</vt:lpstr>
      <vt:lpstr>What is Pager Rotation?</vt:lpstr>
      <vt:lpstr>Why On-Call Matter in DevOps</vt:lpstr>
      <vt:lpstr>Build a Fair and Sustainable Rotation</vt:lpstr>
      <vt:lpstr>Make Alerts Actionable</vt:lpstr>
      <vt:lpstr>Prepare the On-Call Engineer</vt:lpstr>
      <vt:lpstr>Handoffs and incident Response</vt:lpstr>
      <vt:lpstr>Prevent Burnout and Improve the Rotation</vt:lpstr>
      <vt:lpstr>Key Takeaways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Ryan Barber</dc:creator>
  <cp:lastModifiedBy>Ryan Barber</cp:lastModifiedBy>
  <cp:revision>1</cp:revision>
  <dcterms:created xsi:type="dcterms:W3CDTF">2026-09-21T00:54:28Z</dcterms:created>
  <dcterms:modified xsi:type="dcterms:W3CDTF">2026-09-21T00:56:30Z</dcterms:modified>
</cp:coreProperties>
</file>