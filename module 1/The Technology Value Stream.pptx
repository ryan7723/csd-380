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3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49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7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2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24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1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9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1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5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7734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02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20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07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04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8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5A3BE34-23E2-409B-888E-83C635DF644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B64E4-89E6-42DC-8DB8-B3AD7E936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9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92F1-78B9-1E42-E8EE-D3D447339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A14A2-55FB-21DB-051C-9B33CD9645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Ryan Barber</a:t>
            </a:r>
          </a:p>
          <a:p>
            <a:r>
              <a:rPr lang="en-US" dirty="0"/>
              <a:t>CSD-380</a:t>
            </a:r>
          </a:p>
          <a:p>
            <a:r>
              <a:rPr lang="en-US" dirty="0"/>
              <a:t>8/16/26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B8B3-BC10-0705-7C3D-F9E880F6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Technology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7FEA-E3FB-04AB-F10B-339A36607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technology value stream represents the steps required to convert a business idea or request into a technology-enabled product or service.</a:t>
            </a:r>
          </a:p>
          <a:p>
            <a:r>
              <a:rPr lang="en-US" dirty="0"/>
              <a:t>This includes development, testing, deployment, and delivery.</a:t>
            </a:r>
          </a:p>
          <a:p>
            <a:r>
              <a:rPr lang="en-US" dirty="0"/>
              <a:t>DevOps focuses on improving the flow of work through this value stream.</a:t>
            </a:r>
          </a:p>
          <a:p>
            <a:r>
              <a:rPr lang="en-US" dirty="0"/>
              <a:t>Faster feedback and fewer delays allow organizations to deliver value to customers more efficiently. </a:t>
            </a:r>
          </a:p>
          <a:p>
            <a:r>
              <a:rPr lang="en-US" dirty="0"/>
              <a:t>The goal is to improve the entire system, rather than optimizing only one individual stage.</a:t>
            </a:r>
          </a:p>
        </p:txBody>
      </p:sp>
    </p:spTree>
    <p:extLst>
      <p:ext uri="{BB962C8B-B14F-4D97-AF65-F5344CB8AC3E}">
        <p14:creationId xmlns:p14="http://schemas.microsoft.com/office/powerpoint/2010/main" val="329628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4BF5-9215-AAC8-4C8F-6D02E081A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Time vs Processing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18447-68FF-074A-48DF-0BB2F9F8E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0358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Lead Time</a:t>
            </a:r>
          </a:p>
          <a:p>
            <a:r>
              <a:rPr lang="en-US" dirty="0"/>
              <a:t>Begins when a request or ticket is created.</a:t>
            </a:r>
          </a:p>
          <a:p>
            <a:r>
              <a:rPr lang="en-US" dirty="0"/>
              <a:t>Ends when the work is completed.</a:t>
            </a:r>
          </a:p>
          <a:p>
            <a:r>
              <a:rPr lang="en-US" dirty="0"/>
              <a:t>Includes both active work and time spent waiting in queues.</a:t>
            </a:r>
          </a:p>
          <a:p>
            <a:r>
              <a:rPr lang="en-US" dirty="0"/>
              <a:t>Represents the total time experienced by the customer.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Processing Time</a:t>
            </a:r>
          </a:p>
          <a:p>
            <a:r>
              <a:rPr lang="en-US" dirty="0"/>
              <a:t>Begins when actual work starts.</a:t>
            </a:r>
          </a:p>
          <a:p>
            <a:r>
              <a:rPr lang="en-US" dirty="0"/>
              <a:t>Ends when the work is completed.</a:t>
            </a:r>
          </a:p>
          <a:p>
            <a:r>
              <a:rPr lang="en-US" dirty="0"/>
              <a:t>Measures only the time spent actively working on the request.</a:t>
            </a:r>
          </a:p>
          <a:p>
            <a:r>
              <a:rPr lang="en-US" dirty="0"/>
              <a:t>Does not include the time the request waits before work begins.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Lead time is usually much longer than processing time because work can spend significant amounts of time waiting.</a:t>
            </a:r>
          </a:p>
        </p:txBody>
      </p:sp>
    </p:spTree>
    <p:extLst>
      <p:ext uri="{BB962C8B-B14F-4D97-AF65-F5344CB8AC3E}">
        <p14:creationId xmlns:p14="http://schemas.microsoft.com/office/powerpoint/2010/main" val="48868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30EB-AE51-B3BA-E6EC-510DF4DC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Lead Time vs. Processing Time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ACAE-9CCE-A476-6C14-8A1BCDD7A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2578"/>
            <a:ext cx="10515600" cy="632462"/>
          </a:xfrm>
        </p:spPr>
        <p:txBody>
          <a:bodyPr>
            <a:normAutofit fontScale="92500"/>
          </a:bodyPr>
          <a:lstStyle/>
          <a:p>
            <a:r>
              <a:rPr lang="en-US" dirty="0"/>
              <a:t>Reducing waiting time can significantly improve the overall technology value stream.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BDD529-3BBE-C614-EFB8-246FE1363640}"/>
              </a:ext>
            </a:extLst>
          </p:cNvPr>
          <p:cNvSpPr/>
          <p:nvPr/>
        </p:nvSpPr>
        <p:spPr>
          <a:xfrm>
            <a:off x="1213164" y="2138880"/>
            <a:ext cx="1803152" cy="839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Ticket Created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98AF23-9697-55A3-2E78-C97E1B2A4966}"/>
              </a:ext>
            </a:extLst>
          </p:cNvPr>
          <p:cNvSpPr/>
          <p:nvPr/>
        </p:nvSpPr>
        <p:spPr>
          <a:xfrm>
            <a:off x="8851272" y="2138880"/>
            <a:ext cx="1803152" cy="839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 Completed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3B8FD-A751-372B-E1D3-961EB407A26C}"/>
              </a:ext>
            </a:extLst>
          </p:cNvPr>
          <p:cNvSpPr/>
          <p:nvPr/>
        </p:nvSpPr>
        <p:spPr>
          <a:xfrm>
            <a:off x="5032217" y="2144162"/>
            <a:ext cx="1803152" cy="839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 Started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10183A-B582-DB53-BED0-18F23AA35CE2}"/>
              </a:ext>
            </a:extLst>
          </p:cNvPr>
          <p:cNvSpPr/>
          <p:nvPr/>
        </p:nvSpPr>
        <p:spPr>
          <a:xfrm>
            <a:off x="1213163" y="5099600"/>
            <a:ext cx="1803152" cy="839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Processing Time:</a:t>
            </a:r>
          </a:p>
          <a:p>
            <a:pPr algn="ctr"/>
            <a:r>
              <a:rPr lang="en-US" dirty="0"/>
              <a:t>Work Started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3E234D-559C-0C87-AC31-06EED3B12F6B}"/>
              </a:ext>
            </a:extLst>
          </p:cNvPr>
          <p:cNvSpPr/>
          <p:nvPr/>
        </p:nvSpPr>
        <p:spPr>
          <a:xfrm>
            <a:off x="5032216" y="3641758"/>
            <a:ext cx="1803152" cy="839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 Completed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BA558B-0C73-5C49-22A3-26845FE7FF00}"/>
              </a:ext>
            </a:extLst>
          </p:cNvPr>
          <p:cNvSpPr/>
          <p:nvPr/>
        </p:nvSpPr>
        <p:spPr>
          <a:xfrm>
            <a:off x="1213163" y="3641758"/>
            <a:ext cx="1803152" cy="839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Lead Time: Ticket Created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BD5135-7243-8A6C-4917-2D6B68651A84}"/>
              </a:ext>
            </a:extLst>
          </p:cNvPr>
          <p:cNvSpPr/>
          <p:nvPr/>
        </p:nvSpPr>
        <p:spPr>
          <a:xfrm>
            <a:off x="5032215" y="5099598"/>
            <a:ext cx="1803152" cy="839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 Completed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200871-619C-5E02-621E-504011BD5A0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016316" y="2558618"/>
            <a:ext cx="2015901" cy="5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AC7F94-08B0-33DA-3F13-09696D148435}"/>
              </a:ext>
            </a:extLst>
          </p:cNvPr>
          <p:cNvCxnSpPr>
            <a:stCxn id="8" idx="3"/>
            <a:endCxn id="6" idx="1"/>
          </p:cNvCxnSpPr>
          <p:nvPr/>
        </p:nvCxnSpPr>
        <p:spPr>
          <a:xfrm flipV="1">
            <a:off x="6835369" y="2558618"/>
            <a:ext cx="2015903" cy="5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6C5848-8D0A-3029-4F98-A19EFF9F78E2}"/>
              </a:ext>
            </a:extLst>
          </p:cNvPr>
          <p:cNvCxnSpPr>
            <a:stCxn id="14" idx="3"/>
            <a:endCxn id="12" idx="1"/>
          </p:cNvCxnSpPr>
          <p:nvPr/>
        </p:nvCxnSpPr>
        <p:spPr>
          <a:xfrm>
            <a:off x="3016315" y="4061496"/>
            <a:ext cx="20159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8C6ED8-8C32-5EF0-96C0-3A673EE3273C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 flipV="1">
            <a:off x="3016315" y="5519336"/>
            <a:ext cx="201590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4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036B-2F15-98F3-DBC1-95D39687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Scenario: Deployment Takes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C5D0-BEF6-50C1-725D-C76461124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 organizations have deployment lead times that require months.</a:t>
            </a:r>
          </a:p>
          <a:p>
            <a:r>
              <a:rPr lang="en-US" dirty="0"/>
              <a:t>This is especially common in large, complex organizations.</a:t>
            </a:r>
          </a:p>
          <a:p>
            <a:r>
              <a:rPr lang="en-US" dirty="0"/>
              <a:t>Tightly coupled and monolithic systems create dependencies between teams.</a:t>
            </a:r>
          </a:p>
          <a:p>
            <a:r>
              <a:rPr lang="en-US" dirty="0"/>
              <a:t>Integration and production environments may take significant time to prepare.</a:t>
            </a:r>
          </a:p>
          <a:p>
            <a:r>
              <a:rPr lang="en-US" dirty="0"/>
              <a:t>Organizations may rely heavily on manual testing.</a:t>
            </a:r>
          </a:p>
          <a:p>
            <a:r>
              <a:rPr lang="en-US" dirty="0"/>
              <a:t>Multiple approval processes can further delay deployment.</a:t>
            </a:r>
          </a:p>
          <a:p>
            <a:r>
              <a:rPr lang="en-US" dirty="0"/>
              <a:t>Work therefore spends significant amounts of time waiting rather than being actively processed.</a:t>
            </a:r>
          </a:p>
        </p:txBody>
      </p:sp>
    </p:spTree>
    <p:extLst>
      <p:ext uri="{BB962C8B-B14F-4D97-AF65-F5344CB8AC3E}">
        <p14:creationId xmlns:p14="http://schemas.microsoft.com/office/powerpoint/2010/main" val="287968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F396-6BCD-BFCE-75BE-A6ECB244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Problems With Long Deployment Lead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0379C-BC26-0F1D-E3BD-3CC4D4381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Large batches of changes may accumulate before deployment.</a:t>
            </a:r>
          </a:p>
          <a:p>
            <a:r>
              <a:rPr lang="en-US" dirty="0"/>
              <a:t>Problems may not be discovered until late in the development process.</a:t>
            </a:r>
          </a:p>
          <a:p>
            <a:r>
              <a:rPr lang="en-US" dirty="0"/>
              <a:t>Determining which change caused a failure becomes more difficult.</a:t>
            </a:r>
          </a:p>
          <a:p>
            <a:r>
              <a:rPr lang="en-US" dirty="0"/>
              <a:t>Fixing problems can require days or weeks of investigation.</a:t>
            </a:r>
          </a:p>
          <a:p>
            <a:r>
              <a:rPr lang="en-US" dirty="0"/>
              <a:t>Developers receive feedback long after they originally wrote the code.</a:t>
            </a:r>
          </a:p>
          <a:p>
            <a:r>
              <a:rPr lang="en-US" dirty="0"/>
              <a:t>Slow feedback makes it harder to respond quickly to customer needs.</a:t>
            </a:r>
          </a:p>
          <a:p>
            <a:r>
              <a:rPr lang="en-US" dirty="0"/>
              <a:t>These delays can ultimately produce poor customer outcomes.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long lead time doesn’t necessarily mean the organization is doing months of actual work. The work could spend much of that time waiting.</a:t>
            </a:r>
          </a:p>
        </p:txBody>
      </p:sp>
    </p:spTree>
    <p:extLst>
      <p:ext uri="{BB962C8B-B14F-4D97-AF65-F5344CB8AC3E}">
        <p14:creationId xmlns:p14="http://schemas.microsoft.com/office/powerpoint/2010/main" val="192726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701F-457D-E349-48C1-51663B2A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DevOps Ideal: Deployment in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1778-7BC8-A98C-838B-9A17499DE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DevOps attempts to replace long deployment cycles with a much faster value stream.</a:t>
            </a:r>
          </a:p>
          <a:p>
            <a:r>
              <a:rPr lang="en-US" dirty="0"/>
              <a:t>Developers receive fast and constant feedback.</a:t>
            </a:r>
          </a:p>
          <a:p>
            <a:r>
              <a:rPr lang="en-US" dirty="0"/>
              <a:t>Small code changes are continually checked into version control.</a:t>
            </a:r>
          </a:p>
          <a:p>
            <a:r>
              <a:rPr lang="en-US" dirty="0"/>
              <a:t>Automated testing validates changes quickly.</a:t>
            </a:r>
          </a:p>
          <a:p>
            <a:r>
              <a:rPr lang="en-US" dirty="0"/>
              <a:t>Exploratory testing can identify problems automation may miss.</a:t>
            </a:r>
          </a:p>
          <a:p>
            <a:r>
              <a:rPr lang="en-US" dirty="0"/>
              <a:t>Changes can then move rapidly into production.</a:t>
            </a:r>
          </a:p>
          <a:p>
            <a:r>
              <a:rPr lang="en-US" dirty="0"/>
              <a:t>Small changes make failures easier to identify and correct.</a:t>
            </a:r>
          </a:p>
          <a:p>
            <a:r>
              <a:rPr lang="en-US" dirty="0"/>
              <a:t>Modular, loosely coupled systems allow teams to operate with greater independence.</a:t>
            </a:r>
          </a:p>
          <a:p>
            <a:pPr marL="0" indent="0">
              <a:buNone/>
            </a:pPr>
            <a:r>
              <a:rPr lang="en-US" dirty="0"/>
              <a:t>Ideally, deployment lead time is measured in minutes or hours instead of months.</a:t>
            </a:r>
          </a:p>
        </p:txBody>
      </p:sp>
    </p:spTree>
    <p:extLst>
      <p:ext uri="{BB962C8B-B14F-4D97-AF65-F5344CB8AC3E}">
        <p14:creationId xmlns:p14="http://schemas.microsoft.com/office/powerpoint/2010/main" val="165582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0928-7FA8-DC40-2220-59C31C2ED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25-Minute DevOps Value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E7F59-AF56-A09D-8645-E921C8877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825" y="3065093"/>
            <a:ext cx="7019832" cy="2225024"/>
          </a:xfrm>
        </p:spPr>
        <p:txBody>
          <a:bodyPr/>
          <a:lstStyle/>
          <a:p>
            <a:r>
              <a:rPr lang="en-US" dirty="0"/>
              <a:t> Automation, small changes, rapid testing, and streamlined approvals can reduce deployment lead time dramatically.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146649-F358-EB26-AFF1-CC783AC5C55B}"/>
              </a:ext>
            </a:extLst>
          </p:cNvPr>
          <p:cNvSpPr/>
          <p:nvPr/>
        </p:nvSpPr>
        <p:spPr>
          <a:xfrm>
            <a:off x="838200" y="1825625"/>
            <a:ext cx="2122283" cy="10156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Commit Stage (Automated)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64B5B8-D073-31CF-8A8D-C030EF8FC935}"/>
              </a:ext>
            </a:extLst>
          </p:cNvPr>
          <p:cNvSpPr/>
          <p:nvPr/>
        </p:nvSpPr>
        <p:spPr>
          <a:xfrm>
            <a:off x="838196" y="3065093"/>
            <a:ext cx="2122283" cy="10156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Automated Test: 10 mins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DF0441-D725-9473-2FA7-1093DF22C34F}"/>
              </a:ext>
            </a:extLst>
          </p:cNvPr>
          <p:cNvSpPr/>
          <p:nvPr/>
        </p:nvSpPr>
        <p:spPr>
          <a:xfrm>
            <a:off x="838195" y="5544029"/>
            <a:ext cx="2122283" cy="10156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 Deploy: 5 mins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0DEB-4481-84F2-ED3B-7C734419087F}"/>
              </a:ext>
            </a:extLst>
          </p:cNvPr>
          <p:cNvSpPr/>
          <p:nvPr/>
        </p:nvSpPr>
        <p:spPr>
          <a:xfrm>
            <a:off x="838195" y="4304561"/>
            <a:ext cx="2122283" cy="10156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Exploratory Test: 10 mins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7507E5-4F48-8C30-F1D3-E70601E3A417}"/>
              </a:ext>
            </a:extLst>
          </p:cNvPr>
          <p:cNvCxnSpPr>
            <a:stCxn id="4" idx="2"/>
            <a:endCxn id="12" idx="0"/>
          </p:cNvCxnSpPr>
          <p:nvPr/>
        </p:nvCxnSpPr>
        <p:spPr>
          <a:xfrm flipH="1">
            <a:off x="1899338" y="2841272"/>
            <a:ext cx="4" cy="223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B55B4F-1CE4-1709-A35E-0760D80FC40D}"/>
              </a:ext>
            </a:extLst>
          </p:cNvPr>
          <p:cNvCxnSpPr>
            <a:endCxn id="16" idx="0"/>
          </p:cNvCxnSpPr>
          <p:nvPr/>
        </p:nvCxnSpPr>
        <p:spPr>
          <a:xfrm>
            <a:off x="1899336" y="4101220"/>
            <a:ext cx="1" cy="203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EFB70A-A28C-1D7B-DDF3-B5351D056680}"/>
              </a:ext>
            </a:extLst>
          </p:cNvPr>
          <p:cNvCxnSpPr>
            <a:stCxn id="16" idx="2"/>
            <a:endCxn id="14" idx="0"/>
          </p:cNvCxnSpPr>
          <p:nvPr/>
        </p:nvCxnSpPr>
        <p:spPr>
          <a:xfrm>
            <a:off x="1899337" y="5320208"/>
            <a:ext cx="0" cy="223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5D3C72-7EF9-ECF0-FD2B-1BA6375EA92A}"/>
              </a:ext>
            </a:extLst>
          </p:cNvPr>
          <p:cNvCxnSpPr>
            <a:stCxn id="14" idx="3"/>
          </p:cNvCxnSpPr>
          <p:nvPr/>
        </p:nvCxnSpPr>
        <p:spPr>
          <a:xfrm flipV="1">
            <a:off x="2960478" y="6051852"/>
            <a:ext cx="62469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884AE14-8CAF-089E-00C1-59CD1674695E}"/>
              </a:ext>
            </a:extLst>
          </p:cNvPr>
          <p:cNvSpPr/>
          <p:nvPr/>
        </p:nvSpPr>
        <p:spPr>
          <a:xfrm>
            <a:off x="3585167" y="5544029"/>
            <a:ext cx="2122283" cy="10156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Cycle Time:</a:t>
            </a:r>
          </a:p>
          <a:p>
            <a:pPr algn="ctr"/>
            <a:r>
              <a:rPr lang="en-US" dirty="0"/>
              <a:t>25 mins</a:t>
            </a:r>
          </a:p>
        </p:txBody>
      </p:sp>
    </p:spTree>
    <p:extLst>
      <p:ext uri="{BB962C8B-B14F-4D97-AF65-F5344CB8AC3E}">
        <p14:creationId xmlns:p14="http://schemas.microsoft.com/office/powerpoint/2010/main" val="304170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2DEA-62F6-F839-8818-F8140A16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6009-E81D-8F6C-7FD8-CC024B5F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value streams show how work moves from an initial request to delivery.</a:t>
            </a:r>
          </a:p>
          <a:p>
            <a:r>
              <a:rPr lang="en-US" dirty="0"/>
              <a:t>Lead time includes both active processing and waiting.</a:t>
            </a:r>
          </a:p>
          <a:p>
            <a:r>
              <a:rPr lang="en-US" dirty="0"/>
              <a:t>Traditional deployment processes can require months because of queues, dependencies, manual processes, and approvals.</a:t>
            </a:r>
          </a:p>
          <a:p>
            <a:r>
              <a:rPr lang="en-US" dirty="0"/>
              <a:t>DevOps seeks to reduce these delays through automation, rapid feedback, smaller changes, and collaboration.</a:t>
            </a:r>
          </a:p>
          <a:p>
            <a:r>
              <a:rPr lang="en-US" dirty="0"/>
              <a:t>The ideal result is reliable software deployment measured in minutes or hours rather than months.</a:t>
            </a:r>
          </a:p>
        </p:txBody>
      </p:sp>
    </p:spTree>
    <p:extLst>
      <p:ext uri="{BB962C8B-B14F-4D97-AF65-F5344CB8AC3E}">
        <p14:creationId xmlns:p14="http://schemas.microsoft.com/office/powerpoint/2010/main" val="2152509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4E70-13CA-A30B-004A-44735935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361B-2828-1E95-EDBD-A58DE42A3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Kim, G., Humble, J., Debois, P., &amp; Willis, J. (2021). The DevOps handbook: How to create world-class agility, reliability, &amp; security in technology organizations (2nd ed.). IT Revolution Press.</a:t>
            </a:r>
          </a:p>
        </p:txBody>
      </p:sp>
    </p:spTree>
    <p:extLst>
      <p:ext uri="{BB962C8B-B14F-4D97-AF65-F5344CB8AC3E}">
        <p14:creationId xmlns:p14="http://schemas.microsoft.com/office/powerpoint/2010/main" val="3499099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688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The Technology Value Stream</vt:lpstr>
      <vt:lpstr>What is a Technology Value Stream?</vt:lpstr>
      <vt:lpstr>Lead Time vs Processing Time</vt:lpstr>
      <vt:lpstr> Lead Time vs. Processing Time Continued</vt:lpstr>
      <vt:lpstr>Common Scenario: Deployment Takes Months</vt:lpstr>
      <vt:lpstr> Problems With Long Deployment Lead Times</vt:lpstr>
      <vt:lpstr>The DevOps Ideal: Deployment in Minutes</vt:lpstr>
      <vt:lpstr> 25-Minute DevOps Value Stream</vt:lpstr>
      <vt:lpstr>Conclusion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Barber</dc:creator>
  <cp:lastModifiedBy>Ryan Barber</cp:lastModifiedBy>
  <cp:revision>1</cp:revision>
  <dcterms:created xsi:type="dcterms:W3CDTF">2026-08-17T01:51:11Z</dcterms:created>
  <dcterms:modified xsi:type="dcterms:W3CDTF">2026-08-17T02:18:40Z</dcterms:modified>
</cp:coreProperties>
</file>