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13553-6426-71DB-5732-E50CDE787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8B949-1F19-09CE-04FF-06A4292E2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D521A-9343-B3B4-3F73-972265C7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7C26D-1DCE-4B3F-1071-77953B04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E8989-9E27-D623-4C7E-C21A04D8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9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AE58-E832-20D4-7394-DD9091F3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2F7F5-4EBF-8EC8-C8CB-79E27F593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D6930-B341-FF79-B4E2-F615CF0A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BAF8F-4EAD-0433-0AAC-D05187B6A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C448E-FD7B-89D8-808B-01A8A53B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0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3A52-D351-279D-BBBB-1FD39BB9A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9DA1D-6430-D1D8-DE7B-7BA76E314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0236-3470-F5E2-406C-9B576DF0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3D3D-B643-EBAC-6C9D-33C897E7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5A70-C2D5-B3B7-08A2-2ACC57B6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9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5D-6C13-1B31-C0EE-1DFB01F5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4596E-C47D-ADCA-4B1A-E3A40E7A7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DAD7D-544F-05E3-CC5B-1F5F1C9EE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B546D-A7A3-5F53-A339-D01FD8CE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F3DE2-A241-4F2E-2BDA-EBD16DC9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8421E-0894-54DD-6F05-85DC49B0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4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9F2A-58C0-6DC2-A138-3B274F8E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803D0-1C0F-9D9D-9D93-4AE2AB6BF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DFF86-1CF7-1771-D850-4A3E32EA8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E580C-1762-9155-92B2-9933C8B17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E5052-1B3C-A5D9-3168-3DC601AD6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0DA50-1375-13E4-ED0B-88A6B4D1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67D6A-FF39-EDB3-8755-2489CF11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15B8E-CC1C-0E69-FDDE-ED2484553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4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5663-568A-D7DA-6757-2D242AC4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3F140-66F7-0D67-0C8B-7D3A898E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0901D-1735-9495-41CB-D4364452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61B2E-67E0-AAB7-F5D0-376044C0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1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0FBFC-A3E2-FB99-DC4F-CAF159A6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52494-80A6-8A43-6733-A8986980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199B2-EBFC-6299-30BD-A846D5172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3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EA63-9368-876E-20F8-66FCDBC6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BAF75-E713-611F-B66C-1194CED93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2E474-E1A2-7107-A988-6A5E5CEB9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F64D2-B57C-3254-CF1A-4AB42B10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7A8DA-07A1-9BCB-3C5E-65F42B92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B074B-2B9F-83A6-0B6F-8EDAEE49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E343-3DC5-58A3-981D-A164853E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145CE7-A3FF-3B9D-4349-2B0AFEFFD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F8358-CAD4-CAD3-8A08-846F1378B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E462A-58FA-3416-76D6-70542EDA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D3B9E-60C3-6B55-7D63-36181758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69409-78FE-F81F-B26A-81AA2345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6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5998-5E58-D104-1DAA-CE5EFD04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6AC55-584D-2785-9BFF-50983A9E9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ACDEE-3E4D-34DA-3805-7CEC34A4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46720-AF93-70E1-AA1C-12ABE538F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7E1A4-AE4B-39AC-0428-9B9E2F2E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5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F8D62-8E69-2A82-4DD3-233B33FD1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057E0-60E3-3380-4077-991B23731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31B00-6C19-723F-85FC-A25ED8FE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4A76B-12CD-44E1-E4E5-16302A65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09755-3F16-D575-6B55-A5BA78CB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3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03118-CDF5-262D-EF53-FE08095A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DA5AD-AF88-89D4-F428-FDC241DE5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7345A-4B10-448B-842C-A46BDB9D7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9B10-CD2E-4B3D-8E98-93AC9E92FAD5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86606-2493-5ED1-9B00-866C9C9A6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78AC6-3493-46DC-A01F-B9323938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16888-50C6-43F3-93D3-B88F3CF9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0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workbook/postmortem-culture/?utm_source=chatgpt.com" TargetMode="External"/><Relationship Id="rId2" Type="http://schemas.openxmlformats.org/officeDocument/2006/relationships/hyperlink" Target="https://sre.google/sre-book/postmortem-culture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blog/products/gcp/incident-management-at-google-adventures-in-sre-land?utm_source=chatgpt.com" TargetMode="External"/><Relationship Id="rId4" Type="http://schemas.openxmlformats.org/officeDocument/2006/relationships/hyperlink" Target="https://doi.org/10.1016/j.ssci.2016.01.01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6422-5F06-2606-1270-359BA3D4A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Establish a Just, Learning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D5B51-9032-A2F4-C599-030C879BF8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And the Barriers and challenges that come with them</a:t>
            </a:r>
          </a:p>
          <a:p>
            <a:r>
              <a:rPr lang="en-US" dirty="0"/>
              <a:t>Ryan Barber</a:t>
            </a:r>
          </a:p>
          <a:p>
            <a:r>
              <a:rPr lang="en-US" dirty="0"/>
              <a:t>Assignment 8.2</a:t>
            </a:r>
          </a:p>
          <a:p>
            <a:r>
              <a:rPr lang="en-US" dirty="0"/>
              <a:t>9/27/26</a:t>
            </a:r>
          </a:p>
        </p:txBody>
      </p:sp>
    </p:spTree>
    <p:extLst>
      <p:ext uri="{BB962C8B-B14F-4D97-AF65-F5344CB8AC3E}">
        <p14:creationId xmlns:p14="http://schemas.microsoft.com/office/powerpoint/2010/main" val="36144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F7A1-3DFB-3727-3A08-A6DC7BF7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Just Culture?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ED1BE-4019-7C78-EDAF-02A4F730C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Just Culture focuses on learning from mistakes instead of blaming the person involved immediately. </a:t>
            </a:r>
          </a:p>
          <a:p>
            <a:r>
              <a:rPr lang="en-US" dirty="0"/>
              <a:t>It assumes that people generally act in good faith with the information and tools available to them.</a:t>
            </a:r>
          </a:p>
          <a:p>
            <a:r>
              <a:rPr lang="en-US" dirty="0"/>
              <a:t> Accountability still matters, of course. The goal is to understand how systems, processes, and decisions contributed to an incident. </a:t>
            </a:r>
          </a:p>
          <a:p>
            <a:r>
              <a:rPr lang="en-US" dirty="0"/>
              <a:t>When it comes to DevOps, this idea supports blameless postmortems and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2393361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44C0-1279-B8C2-5120-71968435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 in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9507B-569B-C1A4-CC48-9742FD12A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DevOps, teams need people to report problems quickly and share what happened.</a:t>
            </a:r>
          </a:p>
          <a:p>
            <a:r>
              <a:rPr lang="en-US" dirty="0"/>
              <a:t>The fear of being punished can cause employees to hide mistakes or avoid taking reasonable risks. </a:t>
            </a:r>
          </a:p>
          <a:p>
            <a:r>
              <a:rPr lang="en-US" dirty="0"/>
              <a:t>Learning from incidents can lead to stronger systems, better processes, and fewer repeated failures. </a:t>
            </a:r>
          </a:p>
          <a:p>
            <a:r>
              <a:rPr lang="en-US" dirty="0"/>
              <a:t>A healthy learning culture makes incident reviews useful instead of something employees want to avoid.</a:t>
            </a:r>
          </a:p>
        </p:txBody>
      </p:sp>
    </p:spTree>
    <p:extLst>
      <p:ext uri="{BB962C8B-B14F-4D97-AF65-F5344CB8AC3E}">
        <p14:creationId xmlns:p14="http://schemas.microsoft.com/office/powerpoint/2010/main" val="268405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88BE-24DC-B07A-6835-496B40250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Barrier: Blame and Fear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3F63D-D3C9-A886-117F-50C3A2B95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blame culture has been around for a long period of time, it can be difficult to change.</a:t>
            </a:r>
          </a:p>
          <a:p>
            <a:r>
              <a:rPr lang="en-US" dirty="0"/>
              <a:t>Employees tend to stay quiet if they feel that admitting to a mistake will hurt their job or reputation.</a:t>
            </a:r>
          </a:p>
          <a:p>
            <a:r>
              <a:rPr lang="en-US" dirty="0"/>
              <a:t>Finger-pointing can make teams defensive and reduce cooperation during incident review.</a:t>
            </a:r>
          </a:p>
          <a:p>
            <a:r>
              <a:rPr lang="en-US" dirty="0"/>
              <a:t>When problems are hidden, the organization loses the chance to fix the conditions that allowed them to happen. </a:t>
            </a:r>
          </a:p>
        </p:txBody>
      </p:sp>
    </p:spTree>
    <p:extLst>
      <p:ext uri="{BB962C8B-B14F-4D97-AF65-F5344CB8AC3E}">
        <p14:creationId xmlns:p14="http://schemas.microsoft.com/office/powerpoint/2010/main" val="702789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F255-A003-B37A-5B85-11ECC600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Barrier: Leadership and Organizational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9DEE3-C9B2-D6F0-7775-4BCBDAEB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 must lead by example, which means modeling the behavior they expect from everyone else.</a:t>
            </a:r>
          </a:p>
          <a:p>
            <a:r>
              <a:rPr lang="en-US" dirty="0"/>
              <a:t>A company can say it supports blameless learning while managers still ask, “Who caused this?”</a:t>
            </a:r>
          </a:p>
          <a:p>
            <a:r>
              <a:rPr lang="en-US" dirty="0"/>
              <a:t> Inconsistent reactions from leadership make employees less likely to trust the process.</a:t>
            </a:r>
          </a:p>
          <a:p>
            <a:r>
              <a:rPr lang="en-US" dirty="0"/>
              <a:t>Changing established habits requires time, reinforcement, and visible support from management. </a:t>
            </a:r>
          </a:p>
        </p:txBody>
      </p:sp>
    </p:spTree>
    <p:extLst>
      <p:ext uri="{BB962C8B-B14F-4D97-AF65-F5344CB8AC3E}">
        <p14:creationId xmlns:p14="http://schemas.microsoft.com/office/powerpoint/2010/main" val="74365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F16CB-A9C0-7C91-1334-15F596F62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Third Barrier: Balancing Accountability and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ABD3-CCAF-859B-CB0E-7810E995D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Just Culture does not mean that every action is acceptable.</a:t>
            </a:r>
          </a:p>
          <a:p>
            <a:r>
              <a:rPr lang="en-US" dirty="0"/>
              <a:t>Organizations still need to address reckless or intentionally harmful behavior fairly.</a:t>
            </a:r>
          </a:p>
          <a:p>
            <a:r>
              <a:rPr lang="en-US" dirty="0"/>
              <a:t>The difficult part is avoiding a rigid line that turns every mistake into a reason for punishment. </a:t>
            </a:r>
          </a:p>
          <a:p>
            <a:r>
              <a:rPr lang="en-US" dirty="0"/>
              <a:t>If accountability is handled through blame and shame, then employees can end up becoming more risk-averse instead of more responsible. </a:t>
            </a:r>
          </a:p>
        </p:txBody>
      </p:sp>
    </p:spTree>
    <p:extLst>
      <p:ext uri="{BB962C8B-B14F-4D97-AF65-F5344CB8AC3E}">
        <p14:creationId xmlns:p14="http://schemas.microsoft.com/office/powerpoint/2010/main" val="163435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BB5C-AD4E-013E-48F5-E9A2DA1A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Turn an Incident into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B2E5A-92A4-B3BB-6EA0-A8705E331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only works when teams have time to complete reviews, action items have owners, and lessons are shared instead of forgotten.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4A5E0318-A475-953A-CC79-68596932CB59}"/>
              </a:ext>
            </a:extLst>
          </p:cNvPr>
          <p:cNvSpPr/>
          <p:nvPr/>
        </p:nvSpPr>
        <p:spPr>
          <a:xfrm>
            <a:off x="428909" y="3300782"/>
            <a:ext cx="2046083" cy="140102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 occurs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89089ED8-332A-CBC5-BDEC-816E01B06206}"/>
              </a:ext>
            </a:extLst>
          </p:cNvPr>
          <p:cNvSpPr/>
          <p:nvPr/>
        </p:nvSpPr>
        <p:spPr>
          <a:xfrm>
            <a:off x="2746219" y="3300782"/>
            <a:ext cx="2046083" cy="140102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 openly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684BA022-6924-C9BA-DD41-81409E1F465D}"/>
              </a:ext>
            </a:extLst>
          </p:cNvPr>
          <p:cNvSpPr/>
          <p:nvPr/>
        </p:nvSpPr>
        <p:spPr>
          <a:xfrm>
            <a:off x="7338211" y="3300782"/>
            <a:ext cx="2046083" cy="140102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Improve system &amp; process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851C5581-54C7-31E5-163A-846FD9EE3734}"/>
              </a:ext>
            </a:extLst>
          </p:cNvPr>
          <p:cNvSpPr/>
          <p:nvPr/>
        </p:nvSpPr>
        <p:spPr>
          <a:xfrm>
            <a:off x="9631755" y="3300782"/>
            <a:ext cx="2046083" cy="140102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Shares lessons &amp; follow up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1B4C8565-F613-14CF-BA0A-319161030F6E}"/>
              </a:ext>
            </a:extLst>
          </p:cNvPr>
          <p:cNvSpPr/>
          <p:nvPr/>
        </p:nvSpPr>
        <p:spPr>
          <a:xfrm>
            <a:off x="5039763" y="3300782"/>
            <a:ext cx="2046083" cy="140102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without finger-pointing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08082DD-4085-AB9D-EC80-929B56E6D45F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474992" y="4001294"/>
            <a:ext cx="2712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3B8001-F8DE-E1F9-F6A6-825B4109CBB5}"/>
              </a:ext>
            </a:extLst>
          </p:cNvPr>
          <p:cNvCxnSpPr/>
          <p:nvPr/>
        </p:nvCxnSpPr>
        <p:spPr>
          <a:xfrm>
            <a:off x="4792302" y="4001294"/>
            <a:ext cx="247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BD8F40-8AE7-ED8D-9B42-B6A380AD6EFD}"/>
              </a:ext>
            </a:extLst>
          </p:cNvPr>
          <p:cNvCxnSpPr/>
          <p:nvPr/>
        </p:nvCxnSpPr>
        <p:spPr>
          <a:xfrm>
            <a:off x="9384294" y="4050412"/>
            <a:ext cx="247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1B0B54-52D9-14F7-BBF8-C83CC95E7666}"/>
              </a:ext>
            </a:extLst>
          </p:cNvPr>
          <p:cNvCxnSpPr/>
          <p:nvPr/>
        </p:nvCxnSpPr>
        <p:spPr>
          <a:xfrm>
            <a:off x="7090750" y="4029625"/>
            <a:ext cx="247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290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1FFB9-9C0E-BFE0-5D9A-68D3EBB9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Organizations can Overcome the Barriers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99BDF-3133-6B2B-425E-E060007FC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 must consistently use blameless, fact-focused language.</a:t>
            </a:r>
          </a:p>
          <a:p>
            <a:r>
              <a:rPr lang="en-US" dirty="0"/>
              <a:t>Create clear expectations for incident reviews before an incident happens.</a:t>
            </a:r>
          </a:p>
          <a:p>
            <a:r>
              <a:rPr lang="en-US" dirty="0"/>
              <a:t>Give teams enough time to write postmortems and complete follow-up actions.</a:t>
            </a:r>
          </a:p>
          <a:p>
            <a:r>
              <a:rPr lang="en-US" dirty="0"/>
              <a:t>Include the people involved so the review captures different perspectives.</a:t>
            </a:r>
          </a:p>
          <a:p>
            <a:r>
              <a:rPr lang="en-US" dirty="0"/>
              <a:t>Share lessons across teams and recognize people who report problems and help improve the system.</a:t>
            </a:r>
          </a:p>
        </p:txBody>
      </p:sp>
    </p:spTree>
    <p:extLst>
      <p:ext uri="{BB962C8B-B14F-4D97-AF65-F5344CB8AC3E}">
        <p14:creationId xmlns:p14="http://schemas.microsoft.com/office/powerpoint/2010/main" val="43968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D5E9-39C8-A616-3333-65A5847D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53B2-97C2-7178-F3F1-24393A04F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biggest challenge with all of this is changing the culture. </a:t>
            </a:r>
          </a:p>
          <a:p>
            <a:r>
              <a:rPr lang="en-US" dirty="0"/>
              <a:t>Fear, inconsistent leadership, unclear accountability, and lack of time can all prevent honest learning.</a:t>
            </a:r>
          </a:p>
          <a:p>
            <a:r>
              <a:rPr lang="en-US" dirty="0"/>
              <a:t>A just culture works when accountability and learning support each other instead of turning every failure into a search for someone to blame.</a:t>
            </a:r>
          </a:p>
          <a:p>
            <a:r>
              <a:rPr lang="en-US" dirty="0"/>
              <a:t>For DevOps teams, learning from incidents is part of improving reliability over time. </a:t>
            </a:r>
          </a:p>
        </p:txBody>
      </p:sp>
    </p:spTree>
    <p:extLst>
      <p:ext uri="{BB962C8B-B14F-4D97-AF65-F5344CB8AC3E}">
        <p14:creationId xmlns:p14="http://schemas.microsoft.com/office/powerpoint/2010/main" val="2821068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AC8A-4D1D-791A-B263-BC2A6957D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4DD20-FA0D-47EB-D0DA-B4E523A2B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Google. (n.d.). </a:t>
            </a:r>
            <a:r>
              <a:rPr lang="en-US" i="1" dirty="0"/>
              <a:t>Postmortem culture: Learning from failure.</a:t>
            </a:r>
            <a:r>
              <a:rPr lang="en-US" dirty="0"/>
              <a:t> Site Reliability Engineering.</a:t>
            </a:r>
            <a:br>
              <a:rPr lang="en-US" dirty="0"/>
            </a:br>
            <a:r>
              <a:rPr lang="en-US" dirty="0">
                <a:hlinkClick r:id="rId2"/>
              </a:rPr>
              <a:t>https://sre.google/sre-book/postmortem-culture/</a:t>
            </a:r>
            <a:endParaRPr lang="en-US" dirty="0"/>
          </a:p>
          <a:p>
            <a:r>
              <a:rPr lang="en-US" dirty="0"/>
              <a:t>Google. (n.d.). </a:t>
            </a:r>
            <a:r>
              <a:rPr lang="en-US" i="1" dirty="0"/>
              <a:t>Postmortem culture: Learning from failure.</a:t>
            </a:r>
            <a:r>
              <a:rPr lang="en-US" dirty="0"/>
              <a:t> The Site Reliability Workbook.</a:t>
            </a:r>
            <a:br>
              <a:rPr lang="en-US" dirty="0"/>
            </a:br>
            <a:r>
              <a:rPr lang="en-US" dirty="0">
                <a:hlinkClick r:id="rId3"/>
              </a:rPr>
              <a:t>https://sre.google/workbook/postmortem-culture/</a:t>
            </a:r>
            <a:endParaRPr lang="en-US" dirty="0"/>
          </a:p>
          <a:p>
            <a:r>
              <a:rPr lang="en-US" dirty="0"/>
              <a:t>Dekker, S., &amp; Breakey, H. (2016). </a:t>
            </a:r>
            <a:r>
              <a:rPr lang="en-US" i="1" dirty="0"/>
              <a:t>Just culture: Improving safety by achieving substantive, procedural and restorative justice.</a:t>
            </a:r>
            <a:r>
              <a:rPr lang="en-US" dirty="0"/>
              <a:t> Safety Science, 85, 187–193.</a:t>
            </a:r>
            <a:br>
              <a:rPr lang="en-US" dirty="0"/>
            </a:br>
            <a:r>
              <a:rPr lang="en-US" dirty="0">
                <a:hlinkClick r:id="rId4"/>
              </a:rPr>
              <a:t>https://doi.org/10.1016/j.ssci.2016.01.018</a:t>
            </a:r>
            <a:endParaRPr lang="en-US" dirty="0"/>
          </a:p>
          <a:p>
            <a:r>
              <a:rPr lang="en-US" dirty="0"/>
              <a:t>Google Cloud. (2017). </a:t>
            </a:r>
            <a:r>
              <a:rPr lang="en-US" i="1" dirty="0"/>
              <a:t>How incident management is done at Google: Adventures in SRE-land.</a:t>
            </a:r>
            <a:r>
              <a:rPr lang="en-US" dirty="0"/>
              <a:t> Google Cloud Blog.</a:t>
            </a:r>
            <a:br>
              <a:rPr lang="en-US" dirty="0"/>
            </a:br>
            <a:r>
              <a:rPr lang="en-US" dirty="0">
                <a:hlinkClick r:id="rId5"/>
              </a:rPr>
              <a:t>https://cloud.google.com/blog/products/gcp/incident-management-at-google-adventures-in-sre-land</a:t>
            </a:r>
            <a:endParaRPr lang="en-US" dirty="0"/>
          </a:p>
          <a:p>
            <a:pPr>
              <a:spcAft>
                <a:spcPts val="1600"/>
              </a:spcAft>
              <a:defRPr sz="1500">
                <a:solidFill>
                  <a:srgbClr val="374151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02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721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Establish a Just, Learning Culture</vt:lpstr>
      <vt:lpstr>What is a Just Culture?</vt:lpstr>
      <vt:lpstr>Why it matters in DevOps</vt:lpstr>
      <vt:lpstr>The First Barrier: Blame and Fear</vt:lpstr>
      <vt:lpstr>The Second Barrier: Leadership and Organizational Resistance</vt:lpstr>
      <vt:lpstr>The Third Barrier: Balancing Accountability and Learning</vt:lpstr>
      <vt:lpstr>How to Turn an Incident into Learning</vt:lpstr>
      <vt:lpstr>How Organizations can Overcome the Barriers</vt:lpstr>
      <vt:lpstr>Finale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Barber</dc:creator>
  <cp:lastModifiedBy>Ryan Barber</cp:lastModifiedBy>
  <cp:revision>1</cp:revision>
  <dcterms:created xsi:type="dcterms:W3CDTF">2026-09-28T00:30:18Z</dcterms:created>
  <dcterms:modified xsi:type="dcterms:W3CDTF">2026-09-28T00:47:39Z</dcterms:modified>
</cp:coreProperties>
</file>