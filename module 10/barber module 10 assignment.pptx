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2" r:id="rId4"/>
    <p:sldId id="263" r:id="rId5"/>
    <p:sldId id="264" r:id="rId6"/>
    <p:sldId id="258" r:id="rId7"/>
    <p:sldId id="259" r:id="rId8"/>
    <p:sldId id="260" r:id="rId9"/>
    <p:sldId id="2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952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51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055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8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678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88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680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787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94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31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8360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599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339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778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5505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7284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757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5062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276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9388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897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676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110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490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7292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439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7B0C5D3-040D-4798-B90C-20D302590CB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9F69FF7-46AB-4283-964E-67FF4D026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48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de-security/tutorials/secure-your-organization/prevent-data-leaks" TargetMode="External"/><Relationship Id="rId7" Type="http://schemas.openxmlformats.org/officeDocument/2006/relationships/hyperlink" Target="https://cheatsheetseries.owasp.org/cheatsheets/Key_Management_Cheat_Sheet.html" TargetMode="External"/><Relationship Id="rId2" Type="http://schemas.openxmlformats.org/officeDocument/2006/relationships/hyperlink" Target="https://docs.github.com/en/repositories/configuring-branches-and-merges-in-your-repository/managing-protected-branches/about-protected-branch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github.com/en/copilot/tutorials/copilot-cookbook/analyze-security/secure-your-repository" TargetMode="External"/><Relationship Id="rId5" Type="http://schemas.openxmlformats.org/officeDocument/2006/relationships/hyperlink" Target="https://docs.github.com/en/code-security/concepts/secret-security/secret-scanning" TargetMode="External"/><Relationship Id="rId4" Type="http://schemas.openxmlformats.org/officeDocument/2006/relationships/hyperlink" Target="https://docs.github.com/en/code-security/concepts/secret-security/push-protec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BE23F-E88A-C880-3DCC-C18F55AF55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Security Controls in Shared Source Code Repositories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7B15B-081A-7AE9-7CC6-EC3A359EF2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Ryan Barber</a:t>
            </a:r>
          </a:p>
          <a:p>
            <a:r>
              <a:rPr lang="en-US" dirty="0"/>
              <a:t>CSD-380</a:t>
            </a:r>
          </a:p>
          <a:p>
            <a:r>
              <a:rPr lang="en-US" dirty="0"/>
              <a:t>Assignment 10.2</a:t>
            </a:r>
          </a:p>
        </p:txBody>
      </p:sp>
    </p:spTree>
    <p:extLst>
      <p:ext uri="{BB962C8B-B14F-4D97-AF65-F5344CB8AC3E}">
        <p14:creationId xmlns:p14="http://schemas.microsoft.com/office/powerpoint/2010/main" val="556416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F31BFE1-47FC-EE13-B178-4367901B0F78}"/>
              </a:ext>
            </a:extLst>
          </p:cNvPr>
          <p:cNvSpPr/>
          <p:nvPr/>
        </p:nvSpPr>
        <p:spPr>
          <a:xfrm>
            <a:off x="8165431" y="3148999"/>
            <a:ext cx="3188368" cy="14773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2F26587-8258-47C2-CBF8-EAD74BBFB267}"/>
              </a:ext>
            </a:extLst>
          </p:cNvPr>
          <p:cNvSpPr/>
          <p:nvPr/>
        </p:nvSpPr>
        <p:spPr>
          <a:xfrm>
            <a:off x="8165432" y="5097101"/>
            <a:ext cx="3188368" cy="14773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1C59F53-1118-A987-E561-902B6A63EBFC}"/>
              </a:ext>
            </a:extLst>
          </p:cNvPr>
          <p:cNvSpPr/>
          <p:nvPr/>
        </p:nvSpPr>
        <p:spPr>
          <a:xfrm>
            <a:off x="8165432" y="1507958"/>
            <a:ext cx="3188368" cy="14773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C6E7CE-0DE8-BC2A-55EC-104E7075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Repository Security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40509-93AE-E168-9B19-AF4A532B3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507958"/>
            <a:ext cx="6689558" cy="4669005"/>
          </a:xfrm>
        </p:spPr>
        <p:txBody>
          <a:bodyPr>
            <a:normAutofit lnSpcReduction="10000"/>
          </a:bodyPr>
          <a:lstStyle/>
          <a:p>
            <a:pPr>
              <a:spcAft>
                <a:spcPts val="1000"/>
              </a:spcAft>
              <a:defRPr sz="2000">
                <a:solidFill>
                  <a:srgbClr val="12202F"/>
                </a:solidFill>
              </a:defRPr>
            </a:pPr>
            <a:r>
              <a:rPr lang="en-US" sz="2400" dirty="0"/>
              <a:t>Shared repositories are collaboration points for source code, configuration, and development history.</a:t>
            </a:r>
          </a:p>
          <a:p>
            <a:pPr>
              <a:spcAft>
                <a:spcPts val="1000"/>
              </a:spcAft>
              <a:defRPr sz="2000">
                <a:solidFill>
                  <a:srgbClr val="12202F"/>
                </a:solidFill>
              </a:defRPr>
            </a:pPr>
            <a:r>
              <a:rPr lang="en-US" sz="2400" dirty="0"/>
              <a:t>If an account is compromised or has excessive permissions, it can expose the proprietary code or allow unauthorized changes.</a:t>
            </a:r>
          </a:p>
          <a:p>
            <a:pPr>
              <a:spcAft>
                <a:spcPts val="1000"/>
              </a:spcAft>
              <a:defRPr sz="2000">
                <a:solidFill>
                  <a:srgbClr val="12202F"/>
                </a:solidFill>
              </a:defRPr>
            </a:pPr>
            <a:r>
              <a:rPr lang="en-US" sz="2400" dirty="0"/>
              <a:t>Having hardcoded API keys, passwords, and tokens can help with enforcing security, compliance, and decreasing financial risk. </a:t>
            </a:r>
          </a:p>
          <a:p>
            <a:pPr>
              <a:spcAft>
                <a:spcPts val="1000"/>
              </a:spcAft>
              <a:defRPr sz="2000">
                <a:solidFill>
                  <a:srgbClr val="12202F"/>
                </a:solidFill>
              </a:defRPr>
            </a:pPr>
            <a:r>
              <a:rPr lang="en-US" sz="2400" dirty="0"/>
              <a:t>Security controls help protect both the source code and the workflow that is used to update it.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E03140-0258-E206-F7D5-B2B8131FED52}"/>
              </a:ext>
            </a:extLst>
          </p:cNvPr>
          <p:cNvSpPr txBox="1"/>
          <p:nvPr/>
        </p:nvSpPr>
        <p:spPr>
          <a:xfrm>
            <a:off x="8311081" y="1507958"/>
            <a:ext cx="30427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Protect Access:</a:t>
            </a:r>
          </a:p>
          <a:p>
            <a:endParaRPr lang="en-US" dirty="0"/>
          </a:p>
          <a:p>
            <a:r>
              <a:rPr lang="en-US" dirty="0"/>
              <a:t>Verify who can enter the repository and what they are allowed to do.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F20144-F9D9-D29D-3531-A878C6518D12}"/>
              </a:ext>
            </a:extLst>
          </p:cNvPr>
          <p:cNvSpPr txBox="1"/>
          <p:nvPr/>
        </p:nvSpPr>
        <p:spPr>
          <a:xfrm>
            <a:off x="8177461" y="3148999"/>
            <a:ext cx="34049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Protect Changes:</a:t>
            </a:r>
          </a:p>
          <a:p>
            <a:endParaRPr lang="en-US" dirty="0"/>
          </a:p>
          <a:p>
            <a:r>
              <a:rPr lang="en-US" dirty="0"/>
              <a:t>Require review and automated checks before changes to important branches.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F78B00-DE5C-C7CE-D836-DAB684732511}"/>
              </a:ext>
            </a:extLst>
          </p:cNvPr>
          <p:cNvSpPr txBox="1"/>
          <p:nvPr/>
        </p:nvSpPr>
        <p:spPr>
          <a:xfrm>
            <a:off x="8311080" y="5097101"/>
            <a:ext cx="30427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Protect Secrets:</a:t>
            </a:r>
          </a:p>
          <a:p>
            <a:endParaRPr lang="en-US" dirty="0"/>
          </a:p>
          <a:p>
            <a:r>
              <a:rPr lang="en-US" dirty="0"/>
              <a:t>Keep credentials out of source code and detect accidental exposure.</a:t>
            </a:r>
          </a:p>
        </p:txBody>
      </p:sp>
    </p:spTree>
    <p:extLst>
      <p:ext uri="{BB962C8B-B14F-4D97-AF65-F5344CB8AC3E}">
        <p14:creationId xmlns:p14="http://schemas.microsoft.com/office/powerpoint/2010/main" val="4241678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D52CA-395D-08EF-551F-5B3CB36CA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Control and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EBFC4-86BD-0A1D-7C44-C68400FA2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Least Privilege: users only have repo permissions needed for their role. Review collaborator access regularly and remove access when it is no longer required.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Strong Authentication: Require two-factor authentication for organization members and collaborators. Having strong authentication reduces the risk of stolen or reused passwords. </a:t>
            </a:r>
          </a:p>
          <a:p>
            <a:endParaRPr lang="en-US" sz="2400" dirty="0"/>
          </a:p>
          <a:p>
            <a:r>
              <a:rPr lang="en-US" sz="2400" dirty="0"/>
              <a:t>Token Scope: Having personal access tokens, users should use the minimum permissions necessary. Credentials should be protected, rotated when exposed, and never shared casually.</a:t>
            </a:r>
          </a:p>
        </p:txBody>
      </p:sp>
    </p:spTree>
    <p:extLst>
      <p:ext uri="{BB962C8B-B14F-4D97-AF65-F5344CB8AC3E}">
        <p14:creationId xmlns:p14="http://schemas.microsoft.com/office/powerpoint/2010/main" val="2018989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7060D-3205-C5C8-26E5-80122103C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Protection and Pull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75302-3433-DB23-16BC-E28B8C81D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7407442" cy="3853281"/>
          </a:xfrm>
        </p:spPr>
        <p:txBody>
          <a:bodyPr>
            <a:normAutofit/>
          </a:bodyPr>
          <a:lstStyle/>
          <a:p>
            <a:r>
              <a:rPr lang="en-US" sz="2400" dirty="0"/>
              <a:t>Protect important branches, such as the main, so changes follow an approved workflow. </a:t>
            </a:r>
          </a:p>
          <a:p>
            <a:r>
              <a:rPr lang="en-US" sz="2400" dirty="0"/>
              <a:t>Require pull request reviews before merging.</a:t>
            </a:r>
          </a:p>
          <a:p>
            <a:r>
              <a:rPr lang="en-US" sz="2400" dirty="0"/>
              <a:t>Require status checks to pass before code can be merged.</a:t>
            </a:r>
          </a:p>
          <a:p>
            <a:r>
              <a:rPr lang="en-US" sz="2400" dirty="0"/>
              <a:t>Restrict force pushes and branch deletion to preserve repo integrity.</a:t>
            </a:r>
          </a:p>
          <a:p>
            <a:r>
              <a:rPr lang="en-US" sz="2400" dirty="0"/>
              <a:t>Require conversation resolution or signed commits when appropriate for the project.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2DE1C6D-02E0-A903-14B7-5567D17AA273}"/>
              </a:ext>
            </a:extLst>
          </p:cNvPr>
          <p:cNvSpPr/>
          <p:nvPr/>
        </p:nvSpPr>
        <p:spPr>
          <a:xfrm>
            <a:off x="9071811" y="1738097"/>
            <a:ext cx="1844842" cy="7467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 Branch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038501-5B0B-87A7-7E5D-C7C12A22A6A3}"/>
              </a:ext>
            </a:extLst>
          </p:cNvPr>
          <p:cNvSpPr/>
          <p:nvPr/>
        </p:nvSpPr>
        <p:spPr>
          <a:xfrm>
            <a:off x="9071811" y="2791857"/>
            <a:ext cx="1844842" cy="7485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Pull Request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6708A1-8085-8159-9CAF-E665ABA6F985}"/>
              </a:ext>
            </a:extLst>
          </p:cNvPr>
          <p:cNvSpPr/>
          <p:nvPr/>
        </p:nvSpPr>
        <p:spPr>
          <a:xfrm>
            <a:off x="9071811" y="3785779"/>
            <a:ext cx="1844842" cy="774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Protected Main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4C40D3D-A59D-9F7D-4091-E432395A5711}"/>
              </a:ext>
            </a:extLst>
          </p:cNvPr>
          <p:cNvSpPr/>
          <p:nvPr/>
        </p:nvSpPr>
        <p:spPr>
          <a:xfrm>
            <a:off x="9071811" y="4815007"/>
            <a:ext cx="1844842" cy="774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Review &amp; Checks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8B3463-D4A7-C2C1-3433-D5E85ACE5F25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9994232" y="2484856"/>
            <a:ext cx="0" cy="3070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6B98EBF-430D-1D40-D2EC-74CF3DF83823}"/>
              </a:ext>
            </a:extLst>
          </p:cNvPr>
          <p:cNvCxnSpPr>
            <a:cxnSpLocks/>
          </p:cNvCxnSpPr>
          <p:nvPr/>
        </p:nvCxnSpPr>
        <p:spPr>
          <a:xfrm>
            <a:off x="9994232" y="3540363"/>
            <a:ext cx="0" cy="2544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81DC4CA-AAE4-635F-097A-18CCA0AEDA41}"/>
              </a:ext>
            </a:extLst>
          </p:cNvPr>
          <p:cNvCxnSpPr>
            <a:cxnSpLocks/>
          </p:cNvCxnSpPr>
          <p:nvPr/>
        </p:nvCxnSpPr>
        <p:spPr>
          <a:xfrm>
            <a:off x="9994232" y="4560547"/>
            <a:ext cx="0" cy="2544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0317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B2C9C-94E6-D059-96ED-1E742992D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Secrets and Credential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AD1AC-D938-3D0C-8A40-38C3BBC50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Never commit passwords, API keys, private keys, or other secrets directly into source code.</a:t>
            </a:r>
          </a:p>
          <a:p>
            <a:r>
              <a:rPr lang="en-US" sz="2800" dirty="0"/>
              <a:t>Store secrets in a dedicated key vault or a managed security file. </a:t>
            </a:r>
          </a:p>
          <a:p>
            <a:r>
              <a:rPr lang="en-US" sz="2800" dirty="0"/>
              <a:t>Use secret scanning to detect credentials already present in repo history.</a:t>
            </a:r>
          </a:p>
          <a:p>
            <a:r>
              <a:rPr lang="en-US" sz="2800" dirty="0"/>
              <a:t>Enable push protection to block supported secrets before they reach the repo. </a:t>
            </a:r>
          </a:p>
          <a:p>
            <a:r>
              <a:rPr lang="en-US" sz="2800" dirty="0"/>
              <a:t>If any security-related secret is leaked, revoke it and remove the sensitive data from the repo history.</a:t>
            </a:r>
          </a:p>
        </p:txBody>
      </p:sp>
    </p:spTree>
    <p:extLst>
      <p:ext uri="{BB962C8B-B14F-4D97-AF65-F5344CB8AC3E}">
        <p14:creationId xmlns:p14="http://schemas.microsoft.com/office/powerpoint/2010/main" val="1004000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30EE5-5469-FB5E-2C17-C154FBE45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Automated Security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AD618-AF69-85AC-D17F-2A19B5FB3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Dependency Alerts: Monitor project dependencies for known vulnerabilities and keep vulnerable packages visible to maintainers so updates can be prioritized. </a:t>
            </a:r>
          </a:p>
          <a:p>
            <a:r>
              <a:rPr lang="en-US" sz="2800" dirty="0"/>
              <a:t>Status Checks: Run automated tests and security checks in CI. Protected branches may require successful checks before a pull request can be merged. </a:t>
            </a:r>
          </a:p>
          <a:p>
            <a:r>
              <a:rPr lang="en-US" sz="2800" dirty="0"/>
              <a:t>Security Scanning: Use repository security tools to identify secrets and other risks early. Automation gives developers feedback before insecure changes reach production. </a:t>
            </a:r>
          </a:p>
        </p:txBody>
      </p:sp>
    </p:spTree>
    <p:extLst>
      <p:ext uri="{BB962C8B-B14F-4D97-AF65-F5344CB8AC3E}">
        <p14:creationId xmlns:p14="http://schemas.microsoft.com/office/powerpoint/2010/main" val="3940320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1B9EA-22B3-4A2A-111E-BF882360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Monitoring, Auditing, and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05045-AE33-E8C2-B786-696308CA5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Review repository and organization audit logs for important security-related activity. </a:t>
            </a:r>
          </a:p>
          <a:p>
            <a:r>
              <a:rPr lang="en-US" sz="2800" dirty="0"/>
              <a:t>Investigate alerts from secret scanning, push-protection bypasses, and other security tools.</a:t>
            </a:r>
          </a:p>
          <a:p>
            <a:r>
              <a:rPr lang="en-US" sz="2800" dirty="0"/>
              <a:t>Maintain a SECURITY.md file or internal policy explaining how vulnerabilities should be reported.</a:t>
            </a:r>
          </a:p>
          <a:p>
            <a:r>
              <a:rPr lang="en-US" sz="2800" dirty="0"/>
              <a:t>Document who is responsible for triage, remediation, credential rotation, and incident communication.</a:t>
            </a:r>
          </a:p>
          <a:p>
            <a:r>
              <a:rPr lang="en-US" sz="2800" dirty="0"/>
              <a:t>Periodically review repo visibility, collaborator access, and security settings.</a:t>
            </a:r>
          </a:p>
        </p:txBody>
      </p:sp>
    </p:spTree>
    <p:extLst>
      <p:ext uri="{BB962C8B-B14F-4D97-AF65-F5344CB8AC3E}">
        <p14:creationId xmlns:p14="http://schemas.microsoft.com/office/powerpoint/2010/main" val="1762577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B5D2E-7C1D-D4BF-5976-87121B021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Security Baseline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44CE3-CBBE-03AB-FBC0-3857E88AF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Require 2FA (strengthens authentication for contributors)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Use least privilege (limit collaborator and token permissions)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Protect main (require pull requests, reviews, and passing checks)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Keep secrets out (use a vault, secret scanning, and push protection)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Automate checks (run tests and security checks before merge)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Audit and review (monitor alerts, logs, access, and settings)</a:t>
            </a:r>
          </a:p>
        </p:txBody>
      </p:sp>
    </p:spTree>
    <p:extLst>
      <p:ext uri="{BB962C8B-B14F-4D97-AF65-F5344CB8AC3E}">
        <p14:creationId xmlns:p14="http://schemas.microsoft.com/office/powerpoint/2010/main" val="2063069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154EA-3817-ACBD-4A6B-034D86F8B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1F907-74ED-C91C-26D5-808D5CFCA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GitHub. (n.d.). </a:t>
            </a:r>
            <a:r>
              <a:rPr lang="en-US" i="1" dirty="0"/>
              <a:t>About protected branches</a:t>
            </a:r>
            <a:r>
              <a:rPr lang="en-US" dirty="0"/>
              <a:t>. GitHub Docs.</a:t>
            </a:r>
            <a:br>
              <a:rPr lang="en-US" dirty="0"/>
            </a:br>
            <a:r>
              <a:rPr lang="en-US" dirty="0">
                <a:hlinkClick r:id="rId2"/>
              </a:rPr>
              <a:t>https://docs.github.com/en/repositories/configuring-branches-and-merges-in-your-repository/managing-protected-branches/about-protected-branches</a:t>
            </a:r>
            <a:endParaRPr lang="en-US" dirty="0"/>
          </a:p>
          <a:p>
            <a:r>
              <a:rPr lang="en-US" dirty="0"/>
              <a:t>GitHub. (n.d.). </a:t>
            </a:r>
            <a:r>
              <a:rPr lang="en-US" i="1" dirty="0"/>
              <a:t>Best practices for preventing data leaks in your organization</a:t>
            </a:r>
            <a:r>
              <a:rPr lang="en-US" dirty="0"/>
              <a:t>. GitHub Docs.</a:t>
            </a:r>
            <a:br>
              <a:rPr lang="en-US" dirty="0"/>
            </a:br>
            <a:r>
              <a:rPr lang="en-US" dirty="0">
                <a:hlinkClick r:id="rId3"/>
              </a:rPr>
              <a:t>https://docs.github.com/en/code-security/tutorials/secure-your-organization/prevent-data-leaks</a:t>
            </a:r>
            <a:endParaRPr lang="en-US" dirty="0"/>
          </a:p>
          <a:p>
            <a:r>
              <a:rPr lang="en-US" dirty="0"/>
              <a:t>GitHub. (n.d.). </a:t>
            </a:r>
            <a:r>
              <a:rPr lang="en-US" i="1" dirty="0"/>
              <a:t>Push protection</a:t>
            </a:r>
            <a:r>
              <a:rPr lang="en-US" dirty="0"/>
              <a:t>. GitHub Docs.</a:t>
            </a:r>
            <a:br>
              <a:rPr lang="en-US" dirty="0"/>
            </a:br>
            <a:r>
              <a:rPr lang="en-US" dirty="0">
                <a:hlinkClick r:id="rId4"/>
              </a:rPr>
              <a:t>https://docs.github.com/en/code-security/concepts/secret-security/push-protection</a:t>
            </a:r>
            <a:endParaRPr lang="en-US" dirty="0"/>
          </a:p>
          <a:p>
            <a:r>
              <a:rPr lang="en-US" dirty="0"/>
              <a:t>GitHub. (n.d.). </a:t>
            </a:r>
            <a:r>
              <a:rPr lang="en-US" i="1" dirty="0"/>
              <a:t>Secret scanning</a:t>
            </a:r>
            <a:r>
              <a:rPr lang="en-US" dirty="0"/>
              <a:t>. GitHub Docs.</a:t>
            </a:r>
            <a:br>
              <a:rPr lang="en-US" dirty="0"/>
            </a:br>
            <a:r>
              <a:rPr lang="en-US" dirty="0">
                <a:hlinkClick r:id="rId5"/>
              </a:rPr>
              <a:t>https://docs.github.com/en/code-security/concepts/secret-security/secret-scanning</a:t>
            </a:r>
            <a:endParaRPr lang="en-US" dirty="0"/>
          </a:p>
          <a:p>
            <a:r>
              <a:rPr lang="en-US" dirty="0"/>
              <a:t>GitHub. (n.d.). </a:t>
            </a:r>
            <a:r>
              <a:rPr lang="en-US" i="1" dirty="0"/>
              <a:t>Securing your repository</a:t>
            </a:r>
            <a:r>
              <a:rPr lang="en-US" dirty="0"/>
              <a:t>. GitHub Docs.</a:t>
            </a:r>
            <a:br>
              <a:rPr lang="en-US" dirty="0"/>
            </a:br>
            <a:r>
              <a:rPr lang="en-US" dirty="0">
                <a:hlinkClick r:id="rId6"/>
              </a:rPr>
              <a:t>https://docs.github.com/en/copilot/tutorials/copilot-cookbook/analyze-security/secure-your-repository</a:t>
            </a:r>
            <a:endParaRPr lang="en-US" dirty="0"/>
          </a:p>
          <a:p>
            <a:r>
              <a:rPr lang="en-US" dirty="0"/>
              <a:t>OWASP Foundation. (n.d.). </a:t>
            </a:r>
            <a:r>
              <a:rPr lang="en-US" i="1" dirty="0"/>
              <a:t>Key management cheat sheet</a:t>
            </a:r>
            <a:r>
              <a:rPr lang="en-US" dirty="0"/>
              <a:t>. OWASP Cheat Sheet Series.</a:t>
            </a:r>
            <a:br>
              <a:rPr lang="en-US" dirty="0"/>
            </a:br>
            <a:r>
              <a:rPr lang="en-US" dirty="0">
                <a:hlinkClick r:id="rId7"/>
              </a:rPr>
              <a:t>https://cheatsheetseries.owasp.org/cheatsheets/Key_Management_Cheat_Sheet.html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381846"/>
      </p:ext>
    </p:extLst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Project Status Report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3</TotalTime>
  <Words>803</Words>
  <Application>Microsoft Office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Modulo</vt:lpstr>
      <vt:lpstr>Security Controls in Shared Source Code Repositories </vt:lpstr>
      <vt:lpstr>Why Repository Security Matters</vt:lpstr>
      <vt:lpstr>Access Control and Authentication</vt:lpstr>
      <vt:lpstr>Branch Protection and Pull Requests</vt:lpstr>
      <vt:lpstr>Secrets and Credential Management</vt:lpstr>
      <vt:lpstr>Automated Security Checks</vt:lpstr>
      <vt:lpstr>Monitoring, Auditing, and Response</vt:lpstr>
      <vt:lpstr>Recommended Security Baseline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Barber</dc:creator>
  <cp:lastModifiedBy>Ryan Barber</cp:lastModifiedBy>
  <cp:revision>1</cp:revision>
  <dcterms:created xsi:type="dcterms:W3CDTF">2026-10-05T00:34:18Z</dcterms:created>
  <dcterms:modified xsi:type="dcterms:W3CDTF">2026-10-05T00:37:27Z</dcterms:modified>
</cp:coreProperties>
</file>